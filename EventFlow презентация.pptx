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5" r:id="rId3"/>
    <p:sldId id="257" r:id="rId4"/>
    <p:sldId id="263" r:id="rId5"/>
    <p:sldId id="264" r:id="rId6"/>
    <p:sldId id="262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4773"/>
    <a:srgbClr val="C830CC"/>
    <a:srgbClr val="E32D91"/>
    <a:srgbClr val="F38F99"/>
    <a:srgbClr val="EC6470"/>
    <a:srgbClr val="FAE5E4"/>
    <a:srgbClr val="EEA1AB"/>
    <a:srgbClr val="00858C"/>
    <a:srgbClr val="1CB9BE"/>
    <a:srgbClr val="0C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12" autoAdjust="0"/>
  </p:normalViewPr>
  <p:slideViewPr>
    <p:cSldViewPr snapToGrid="0">
      <p:cViewPr varScale="1">
        <p:scale>
          <a:sx n="60" d="100"/>
          <a:sy n="60" d="100"/>
        </p:scale>
        <p:origin x="96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088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FFB10-EEEF-4003-A3A1-43520C4FB010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4E19F-7952-44E3-B289-25296E677E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878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E19F-7952-44E3-B289-25296E677EA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10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337EE-1DDC-4612-9D24-EEE03BC7F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82" y="365125"/>
            <a:ext cx="9275618" cy="1325563"/>
          </a:xfrm>
        </p:spPr>
        <p:txBody>
          <a:bodyPr/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C441D7-3C7C-447A-BBE1-5FA9C7B50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180" y="1927225"/>
            <a:ext cx="9275619" cy="4351338"/>
          </a:xfrm>
        </p:spPr>
        <p:txBody>
          <a:bodyPr/>
          <a:lstStyle>
            <a:lvl1pPr>
              <a:defRPr b="0">
                <a:solidFill>
                  <a:schemeClr val="accent6"/>
                </a:solidFill>
              </a:defRPr>
            </a:lvl1pPr>
            <a:lvl2pPr>
              <a:defRPr b="0">
                <a:solidFill>
                  <a:schemeClr val="accent6"/>
                </a:solidFill>
              </a:defRPr>
            </a:lvl2pPr>
            <a:lvl3pPr>
              <a:defRPr b="0">
                <a:solidFill>
                  <a:schemeClr val="accent6"/>
                </a:solidFill>
              </a:defRPr>
            </a:lvl3pPr>
            <a:lvl4pPr>
              <a:defRPr b="0">
                <a:solidFill>
                  <a:schemeClr val="accent6"/>
                </a:solidFill>
              </a:defRPr>
            </a:lvl4pPr>
            <a:lvl5pPr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4DD3DF-47D2-4244-9792-12CE4D37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5572" y="6356350"/>
            <a:ext cx="2535827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0DCB5CFB-1053-4ABD-8AE7-93CBC6C0D1C1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5E88ED-267A-406F-8814-D64DEA1F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660" y="6356350"/>
            <a:ext cx="380374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5C3D36-61B4-4111-AC83-C3795B4B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7972" y="6356350"/>
            <a:ext cx="2535827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48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A7987F-C5EA-438F-BD7E-8D303911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018" y="768350"/>
            <a:ext cx="8666018" cy="2852737"/>
          </a:xfrm>
        </p:spPr>
        <p:txBody>
          <a:bodyPr anchor="b">
            <a:normAutofit/>
          </a:bodyPr>
          <a:lstStyle>
            <a:lvl1pPr algn="ctr">
              <a:defRPr sz="7200">
                <a:solidFill>
                  <a:schemeClr val="accent6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5F1006-7188-498C-ABBF-80587A3CC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8018" y="3872491"/>
            <a:ext cx="859328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CAAA22-0748-44B2-95C1-E3606572E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0DCB5CFB-1053-4ABD-8AE7-93CBC6C0D1C1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74E4D-3F92-4FAA-8349-F6D45C08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6F7DFC-34D2-47BD-A449-1F12C2DF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93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A3671-D70D-4846-A00D-D451CC45D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78F876-D852-4E29-A439-4A96013AA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3E4988-A050-44F9-8CDD-B99FEE1FC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29F515-61FC-4696-9DBE-C3EE88BB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23E599-4964-4661-B895-F15D49D3C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44141B-6E20-42C1-A083-D0371C7F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32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5B16F-47D8-43EB-9F03-B3ACD863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D8F048-D987-4AFF-A795-6F700E92B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A324EF-75CB-4183-A85B-AD7BDD2D7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0D5C6B-EB08-465F-984C-82BB28644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6BF5B3-E575-4778-951F-B85DDAFB1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F580A43-90A9-4F74-9CEA-78DC0914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082B72D-A421-4731-A1B3-4B3F7B150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E7E0AB1-8C34-4787-A417-D8024485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65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638900-AEB2-4230-9726-FC3E1A82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A991F4-A55E-4763-85B2-BCF817E0F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418399-BB26-4B5F-AE06-073556FF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600C12F-25DD-409F-A773-01449550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0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8D4BDE5-0371-459D-9B04-EC35D079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AD7312-632A-48EA-9CD9-4C1F9B3E5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9392F6-5A18-4C8F-94AC-EE4481D7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75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6902DB-6786-4EC8-841C-442CE7C53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D0E0AD-9CDE-4B68-B397-28CF6A3BB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FB86FE-73E5-4676-9540-C4530EC06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BF0736-3C77-4656-9517-532D8B4F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69D685-6A52-4572-A0D6-C0059AC9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A8EB1A-AC6D-428E-B0D1-CF9A7622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84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B2F2F-88ED-4374-94A7-62F66BCDF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E968185-D0D5-4204-98C8-EE5D53385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E72D50-BFF9-4173-ABD2-4EC13B94B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3727AD-9A27-4C72-9887-E950A1F3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C7B91B-1762-407F-A127-DE1DCC62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9B9FBD-B522-4123-A0F9-BFF6E77F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0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666AC-8030-4AC8-BD2D-177E2E600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4D5522-45B7-4992-826F-6AF937AAF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30567A-7DA1-430D-84F6-D7275133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18EBEF-8A21-4561-832D-24C58134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0DEFF5-DC16-4E1D-99A4-EA87D703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86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344DC8E-DBB1-4521-B17B-AD7A7C576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BF991ED-D009-4F33-823F-3A146B799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4A8B54-1575-4378-A084-65830E2A9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A3AF89-A79E-4632-89EC-9A4B35359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42F16A-CC16-411F-AB10-DD5D1159C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s://presentation-creation.ru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38E9D2-AC3C-4712-9A37-752F16DB0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3DA045-D354-445D-BE18-3E16A1484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148A85-0285-419E-9BCD-D8E30563A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B5CFB-1053-4ABD-8AE7-93CBC6C0D1C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AA4832-14D7-456F-8D8A-08F55C3370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65C6DE-1236-408E-A547-97410DDD6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2"/>
            <a:extLst>
              <a:ext uri="{FF2B5EF4-FFF2-40B4-BE49-F238E27FC236}">
                <a16:creationId xmlns:a16="http://schemas.microsoft.com/office/drawing/2014/main" id="{A3D3FC47-1965-4ADE-8DCB-5A97BFA1FA8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342B6-92C8-4F2C-9F6D-B8ACADD0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5209" y="832519"/>
            <a:ext cx="6421582" cy="2852737"/>
          </a:xfrm>
        </p:spPr>
        <p:txBody>
          <a:bodyPr>
            <a:normAutofit fontScale="90000"/>
          </a:bodyPr>
          <a:lstStyle/>
          <a:p>
            <a:r>
              <a:rPr lang="en-US" sz="8800" dirty="0" err="1"/>
              <a:t>EventFlow</a:t>
            </a:r>
            <a:r>
              <a:rPr lang="ru-RU" sz="8800" dirty="0"/>
              <a:t>  </a:t>
            </a:r>
            <a:r>
              <a:rPr lang="ru-RU" sz="4400" dirty="0">
                <a:solidFill>
                  <a:schemeClr val="accent6">
                    <a:lumMod val="50000"/>
                  </a:schemeClr>
                </a:solidFill>
              </a:rPr>
              <a:t>система</a:t>
            </a:r>
            <a:r>
              <a:rPr lang="ru-RU" sz="8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ru-RU" sz="4400" dirty="0">
                <a:solidFill>
                  <a:schemeClr val="accent6">
                    <a:lumMod val="50000"/>
                  </a:schemeClr>
                </a:solidFill>
              </a:rPr>
              <a:t>электронной афиши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01D56D-9332-4767-8E7D-C86E8677B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00695" y="3872491"/>
            <a:ext cx="7990609" cy="1500187"/>
          </a:xfrm>
        </p:spPr>
        <p:txBody>
          <a:bodyPr/>
          <a:lstStyle/>
          <a:p>
            <a:pPr algn="ctr"/>
            <a:r>
              <a:rPr lang="ru-RU" sz="2800" dirty="0"/>
              <a:t>Выполнила команда «Дивергент»</a:t>
            </a:r>
          </a:p>
          <a:p>
            <a:pPr algn="ctr"/>
            <a:r>
              <a:rPr lang="ru-RU" sz="2800" dirty="0"/>
              <a:t>2025</a:t>
            </a:r>
            <a:endParaRPr lang="en-US" sz="2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806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80000-B4CA-44C9-9BD3-0DED70B89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319" y="362914"/>
            <a:ext cx="9275618" cy="1325563"/>
          </a:xfrm>
        </p:spPr>
        <p:txBody>
          <a:bodyPr/>
          <a:lstStyle/>
          <a:p>
            <a:r>
              <a:rPr lang="ru-RU" dirty="0"/>
              <a:t>Актуальность проекта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A421061-5800-4F58-A446-54424ED92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1319" y="1688477"/>
            <a:ext cx="8381269" cy="46321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Современные пользователи хотят быстро находить актуальные мероприятия, а организаторам важно иметь удобный инструмент для публикации событий. </a:t>
            </a:r>
            <a:r>
              <a:rPr lang="ru-RU" dirty="0" err="1"/>
              <a:t>EventFlow</a:t>
            </a:r>
            <a:r>
              <a:rPr lang="ru-RU" dirty="0"/>
              <a:t> решает обе задачи, объединяя их в одном цифровом сервисе</a:t>
            </a:r>
          </a:p>
          <a:p>
            <a:r>
              <a:rPr lang="ru-RU" dirty="0"/>
              <a:t>Рост числа мероприятий, событий и встреч в городах</a:t>
            </a:r>
          </a:p>
          <a:p>
            <a:r>
              <a:rPr lang="ru-RU" dirty="0"/>
              <a:t>Отсутствие удобных агрегаторов локальных событий</a:t>
            </a:r>
          </a:p>
          <a:p>
            <a:r>
              <a:rPr lang="ru-RU" dirty="0"/>
              <a:t>Необходимость единого инструмента для поиска, просмотра и участия в мероприятиях</a:t>
            </a:r>
          </a:p>
          <a:p>
            <a:r>
              <a:rPr lang="ru-RU" dirty="0"/>
              <a:t>Удобство как для пользователей, так и для организаторов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320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C7DC2-12CF-4928-A4E4-8D979EAE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730" y="349082"/>
            <a:ext cx="9275618" cy="1325563"/>
          </a:xfrm>
        </p:spPr>
        <p:txBody>
          <a:bodyPr/>
          <a:lstStyle/>
          <a:p>
            <a:r>
              <a:rPr lang="ru-RU" dirty="0"/>
              <a:t>Цели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E72134-208E-4A25-B10D-1D5493B35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730" y="1674645"/>
            <a:ext cx="9275619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Цель:</a:t>
            </a:r>
            <a:r>
              <a:rPr lang="ru-RU" dirty="0"/>
              <a:t> Разработать удобный веб-сервис электронной афиши с возможностью просмотра событий и взаимодействия с ними.</a:t>
            </a:r>
          </a:p>
          <a:p>
            <a:pPr marL="0" indent="0">
              <a:buNone/>
            </a:pPr>
            <a:r>
              <a:rPr lang="ru-RU" b="1" dirty="0"/>
              <a:t>Задачи:</a:t>
            </a:r>
          </a:p>
          <a:p>
            <a:r>
              <a:rPr lang="ru-RU" dirty="0"/>
              <a:t>Создать интерфейс удобного просмотра событий</a:t>
            </a:r>
          </a:p>
          <a:p>
            <a:r>
              <a:rPr lang="ru-RU" dirty="0"/>
              <a:t>Реализовать разделение событий по статусам (активные, прошедшие)</a:t>
            </a:r>
          </a:p>
          <a:p>
            <a:r>
              <a:rPr lang="ru-RU" dirty="0"/>
              <a:t>Обеспечить удобную навигацию по сайту</a:t>
            </a:r>
          </a:p>
          <a:p>
            <a:r>
              <a:rPr lang="ru-RU" dirty="0"/>
              <a:t>Реализовать систему регистрации и авторизации пользователей</a:t>
            </a:r>
          </a:p>
          <a:p>
            <a:r>
              <a:rPr lang="ru-RU" dirty="0"/>
              <a:t>Продумать приятный визуальный стиль с акцентом на легкость и доступность</a:t>
            </a:r>
          </a:p>
        </p:txBody>
      </p:sp>
    </p:spTree>
    <p:extLst>
      <p:ext uri="{BB962C8B-B14F-4D97-AF65-F5344CB8AC3E}">
        <p14:creationId xmlns:p14="http://schemas.microsoft.com/office/powerpoint/2010/main" val="369350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FE74-E988-46F9-8C80-F831F466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 разработки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1527761-1E26-49D9-80E9-FE3FD9A200CA}"/>
              </a:ext>
            </a:extLst>
          </p:cNvPr>
          <p:cNvSpPr/>
          <p:nvPr/>
        </p:nvSpPr>
        <p:spPr>
          <a:xfrm>
            <a:off x="2244437" y="2019785"/>
            <a:ext cx="2250000" cy="76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393D29C-A43B-4407-9A31-6A635E50E0F0}"/>
              </a:ext>
            </a:extLst>
          </p:cNvPr>
          <p:cNvSpPr/>
          <p:nvPr/>
        </p:nvSpPr>
        <p:spPr>
          <a:xfrm>
            <a:off x="4494437" y="2016429"/>
            <a:ext cx="2250000" cy="765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F051DE-3AE7-4E89-BE6E-08ADD6D500F6}"/>
              </a:ext>
            </a:extLst>
          </p:cNvPr>
          <p:cNvSpPr/>
          <p:nvPr/>
        </p:nvSpPr>
        <p:spPr>
          <a:xfrm>
            <a:off x="6744874" y="2016429"/>
            <a:ext cx="2250000" cy="765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93E9F4E-265E-448D-9979-ED7F5874B905}"/>
              </a:ext>
            </a:extLst>
          </p:cNvPr>
          <p:cNvSpPr/>
          <p:nvPr/>
        </p:nvSpPr>
        <p:spPr>
          <a:xfrm>
            <a:off x="8996237" y="2016429"/>
            <a:ext cx="2250000" cy="765000"/>
          </a:xfrm>
          <a:prstGeom prst="rect">
            <a:avLst/>
          </a:prstGeom>
          <a:solidFill>
            <a:srgbClr val="EC6470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C668B25-1C15-45A5-B8A6-9E2168E9FBF8}"/>
              </a:ext>
            </a:extLst>
          </p:cNvPr>
          <p:cNvSpPr/>
          <p:nvPr/>
        </p:nvSpPr>
        <p:spPr>
          <a:xfrm>
            <a:off x="2244437" y="2791496"/>
            <a:ext cx="2250000" cy="29700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92AAD73-EE3A-4E34-AE0F-6E082197EC17}"/>
              </a:ext>
            </a:extLst>
          </p:cNvPr>
          <p:cNvSpPr/>
          <p:nvPr/>
        </p:nvSpPr>
        <p:spPr>
          <a:xfrm>
            <a:off x="4494437" y="2788140"/>
            <a:ext cx="2250000" cy="29700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8475D84-8EC3-4FD4-A4A4-1A33CEBEFA78}"/>
              </a:ext>
            </a:extLst>
          </p:cNvPr>
          <p:cNvSpPr/>
          <p:nvPr/>
        </p:nvSpPr>
        <p:spPr>
          <a:xfrm>
            <a:off x="6744874" y="2788140"/>
            <a:ext cx="2250000" cy="29700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A1B5059-9F71-460F-89FC-233BA5103886}"/>
              </a:ext>
            </a:extLst>
          </p:cNvPr>
          <p:cNvSpPr/>
          <p:nvPr/>
        </p:nvSpPr>
        <p:spPr>
          <a:xfrm>
            <a:off x="8996237" y="2788140"/>
            <a:ext cx="2250000" cy="29700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F7995C7-1A67-44E7-9DB9-4CBF8043BEA8}"/>
              </a:ext>
            </a:extLst>
          </p:cNvPr>
          <p:cNvSpPr/>
          <p:nvPr/>
        </p:nvSpPr>
        <p:spPr>
          <a:xfrm>
            <a:off x="2248694" y="5578141"/>
            <a:ext cx="2250000" cy="18335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C3AC954-F4FC-42C9-B10F-041C7FAFC0CD}"/>
              </a:ext>
            </a:extLst>
          </p:cNvPr>
          <p:cNvSpPr/>
          <p:nvPr/>
        </p:nvSpPr>
        <p:spPr>
          <a:xfrm>
            <a:off x="4499594" y="5574785"/>
            <a:ext cx="2250000" cy="18335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906A70D-6971-4559-8A2C-8E8CCBD8167B}"/>
              </a:ext>
            </a:extLst>
          </p:cNvPr>
          <p:cNvSpPr/>
          <p:nvPr/>
        </p:nvSpPr>
        <p:spPr>
          <a:xfrm>
            <a:off x="6749131" y="5574785"/>
            <a:ext cx="2250000" cy="18335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4BDFEBF-48AE-4FBE-BBB8-1DD34F1A67B1}"/>
              </a:ext>
            </a:extLst>
          </p:cNvPr>
          <p:cNvSpPr/>
          <p:nvPr/>
        </p:nvSpPr>
        <p:spPr>
          <a:xfrm>
            <a:off x="9000494" y="5574785"/>
            <a:ext cx="2250000" cy="183356"/>
          </a:xfrm>
          <a:prstGeom prst="rect">
            <a:avLst/>
          </a:prstGeom>
          <a:solidFill>
            <a:srgbClr val="EC6470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9FD2375-D087-43D2-AAA9-A956554F4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9437" y="2980915"/>
            <a:ext cx="540000" cy="540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D08D761-3CC7-4D40-B3E4-719E0C2DE6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5180" y="2980915"/>
            <a:ext cx="540000" cy="54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9278664-3D73-4925-BC64-375CDF8D60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595180" y="2980915"/>
            <a:ext cx="540000" cy="540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7389BE1-C389-412E-9ED6-AD6BF8AE3B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844951" y="2980915"/>
            <a:ext cx="540000" cy="54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0EA8A7C-6CDE-4CA1-BFCE-896766CD00C6}"/>
              </a:ext>
            </a:extLst>
          </p:cNvPr>
          <p:cNvSpPr txBox="1"/>
          <p:nvPr/>
        </p:nvSpPr>
        <p:spPr>
          <a:xfrm>
            <a:off x="3051478" y="2025856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3F4B1F-2F92-4ABA-BC17-F72BBE1F1E20}"/>
              </a:ext>
            </a:extLst>
          </p:cNvPr>
          <p:cNvSpPr txBox="1"/>
          <p:nvPr/>
        </p:nvSpPr>
        <p:spPr>
          <a:xfrm>
            <a:off x="5305321" y="2041929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F10E07-0E80-45CC-8D67-A681D3843D8C}"/>
              </a:ext>
            </a:extLst>
          </p:cNvPr>
          <p:cNvSpPr txBox="1"/>
          <p:nvPr/>
        </p:nvSpPr>
        <p:spPr>
          <a:xfrm>
            <a:off x="7496463" y="2041929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F72F78-AFC4-43F2-9DBC-EDA618A9A73C}"/>
              </a:ext>
            </a:extLst>
          </p:cNvPr>
          <p:cNvSpPr txBox="1"/>
          <p:nvPr/>
        </p:nvSpPr>
        <p:spPr>
          <a:xfrm>
            <a:off x="9732738" y="2041929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4C1D31-BFAF-4D18-952B-6F1A76547C8D}"/>
              </a:ext>
            </a:extLst>
          </p:cNvPr>
          <p:cNvSpPr txBox="1"/>
          <p:nvPr/>
        </p:nvSpPr>
        <p:spPr>
          <a:xfrm>
            <a:off x="2377191" y="3759105"/>
            <a:ext cx="1936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E32D91"/>
                </a:solidFill>
              </a:rPr>
              <a:t>HTML5, CSS3, Bootstrap 5</a:t>
            </a:r>
            <a:endParaRPr lang="ru-RU" sz="2400" b="1" dirty="0">
              <a:solidFill>
                <a:srgbClr val="E32D9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17D5FB-69FE-4E27-8D7B-EAB45673FDD1}"/>
              </a:ext>
            </a:extLst>
          </p:cNvPr>
          <p:cNvSpPr txBox="1"/>
          <p:nvPr/>
        </p:nvSpPr>
        <p:spPr>
          <a:xfrm>
            <a:off x="2399809" y="4539857"/>
            <a:ext cx="1939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основа интерфейса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009166-6A46-4F6F-A792-8A0908B7B624}"/>
              </a:ext>
            </a:extLst>
          </p:cNvPr>
          <p:cNvSpPr txBox="1"/>
          <p:nvPr/>
        </p:nvSpPr>
        <p:spPr>
          <a:xfrm>
            <a:off x="4652257" y="3717989"/>
            <a:ext cx="193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830CC"/>
                </a:solidFill>
              </a:rPr>
              <a:t>PHP</a:t>
            </a:r>
            <a:endParaRPr lang="ru-RU" sz="2400" b="1" dirty="0">
              <a:solidFill>
                <a:srgbClr val="C830CC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23E76D-D3A5-44DE-95DA-4627DDF1F5FD}"/>
              </a:ext>
            </a:extLst>
          </p:cNvPr>
          <p:cNvSpPr txBox="1"/>
          <p:nvPr/>
        </p:nvSpPr>
        <p:spPr>
          <a:xfrm>
            <a:off x="4674437" y="4296043"/>
            <a:ext cx="1939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динамическое формирование контента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3C0D54-CE86-4136-ABD1-C1E3C691AF19}"/>
              </a:ext>
            </a:extLst>
          </p:cNvPr>
          <p:cNvSpPr txBox="1"/>
          <p:nvPr/>
        </p:nvSpPr>
        <p:spPr>
          <a:xfrm>
            <a:off x="6877628" y="3717989"/>
            <a:ext cx="193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D54773"/>
                </a:solidFill>
              </a:rPr>
              <a:t>JavaScript</a:t>
            </a:r>
            <a:endParaRPr lang="ru-RU" sz="2400" b="1" dirty="0">
              <a:solidFill>
                <a:srgbClr val="D54773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5E057-502B-4C91-B333-4AD296F28879}"/>
              </a:ext>
            </a:extLst>
          </p:cNvPr>
          <p:cNvSpPr txBox="1"/>
          <p:nvPr/>
        </p:nvSpPr>
        <p:spPr>
          <a:xfrm>
            <a:off x="6899808" y="4296043"/>
            <a:ext cx="1939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интерактивные элементы (слайдер, вкладки)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CD62C7-D53D-4561-B29B-642A9A02D92C}"/>
              </a:ext>
            </a:extLst>
          </p:cNvPr>
          <p:cNvSpPr txBox="1"/>
          <p:nvPr/>
        </p:nvSpPr>
        <p:spPr>
          <a:xfrm>
            <a:off x="9152833" y="3714210"/>
            <a:ext cx="193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EC6470"/>
                </a:solidFill>
              </a:rPr>
              <a:t>SQL</a:t>
            </a:r>
            <a:endParaRPr lang="ru-RU" sz="2400" b="1" dirty="0">
              <a:solidFill>
                <a:srgbClr val="EC647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E4515-959E-4E01-B073-32303EAB1D85}"/>
              </a:ext>
            </a:extLst>
          </p:cNvPr>
          <p:cNvSpPr txBox="1"/>
          <p:nvPr/>
        </p:nvSpPr>
        <p:spPr>
          <a:xfrm>
            <a:off x="9151608" y="4369170"/>
            <a:ext cx="1939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Возможность подключения базы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29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EA663-ED93-415C-AE74-0ADE94E33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027" y="352153"/>
            <a:ext cx="9275618" cy="1325563"/>
          </a:xfrm>
        </p:spPr>
        <p:txBody>
          <a:bodyPr/>
          <a:lstStyle/>
          <a:p>
            <a:r>
              <a:rPr lang="ru-RU" dirty="0"/>
              <a:t>Функциональные возможности </a:t>
            </a:r>
            <a:r>
              <a:rPr lang="en-US" dirty="0" err="1"/>
              <a:t>EventFlow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9026BF4-A034-404D-AD35-7E4C7D7B757F}"/>
              </a:ext>
            </a:extLst>
          </p:cNvPr>
          <p:cNvSpPr/>
          <p:nvPr/>
        </p:nvSpPr>
        <p:spPr>
          <a:xfrm>
            <a:off x="2078183" y="2298988"/>
            <a:ext cx="2886075" cy="3180550"/>
          </a:xfrm>
          <a:prstGeom prst="rect">
            <a:avLst/>
          </a:prstGeom>
          <a:solidFill>
            <a:srgbClr val="EC64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84376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26C2D0C-4B22-445D-AD47-D1F785C3E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6282" y="2833389"/>
            <a:ext cx="2809876" cy="2667001"/>
          </a:xfrm>
          <a:noFill/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Просмотр списка событий</a:t>
            </a:r>
          </a:p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Отображение карточек событий с полной информацией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B43B730-3D99-466E-BB4C-1D55530A8067}"/>
              </a:ext>
            </a:extLst>
          </p:cNvPr>
          <p:cNvSpPr/>
          <p:nvPr/>
        </p:nvSpPr>
        <p:spPr>
          <a:xfrm>
            <a:off x="3144983" y="1957686"/>
            <a:ext cx="733425" cy="7334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57E85F-B8D6-4B95-ADE5-810EDE668FD0}"/>
              </a:ext>
            </a:extLst>
          </p:cNvPr>
          <p:cNvSpPr txBox="1"/>
          <p:nvPr/>
        </p:nvSpPr>
        <p:spPr>
          <a:xfrm>
            <a:off x="3144983" y="1957686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579748B-1286-4938-BCC6-0B51CC2876E6}"/>
              </a:ext>
            </a:extLst>
          </p:cNvPr>
          <p:cNvSpPr/>
          <p:nvPr/>
        </p:nvSpPr>
        <p:spPr>
          <a:xfrm>
            <a:off x="5391297" y="2298988"/>
            <a:ext cx="2886075" cy="3180550"/>
          </a:xfrm>
          <a:prstGeom prst="rect">
            <a:avLst/>
          </a:prstGeom>
          <a:solidFill>
            <a:srgbClr val="F38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35FE64AD-A261-47C2-AC13-22BCF899EF9F}"/>
              </a:ext>
            </a:extLst>
          </p:cNvPr>
          <p:cNvSpPr txBox="1">
            <a:spLocks/>
          </p:cNvSpPr>
          <p:nvPr/>
        </p:nvSpPr>
        <p:spPr>
          <a:xfrm>
            <a:off x="5501898" y="2858928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Всплывающие подсказки при наведении на карточку события</a:t>
            </a:r>
          </a:p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Регистрация пользователей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C66C8AB-16F5-437B-9631-FA3568821788}"/>
              </a:ext>
            </a:extLst>
          </p:cNvPr>
          <p:cNvSpPr/>
          <p:nvPr/>
        </p:nvSpPr>
        <p:spPr>
          <a:xfrm>
            <a:off x="6518420" y="1957686"/>
            <a:ext cx="733425" cy="7334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6D88AA-5360-45DB-97B7-B4F3FFD54231}"/>
              </a:ext>
            </a:extLst>
          </p:cNvPr>
          <p:cNvSpPr txBox="1"/>
          <p:nvPr/>
        </p:nvSpPr>
        <p:spPr>
          <a:xfrm>
            <a:off x="6518420" y="1957686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6"/>
                </a:solidFill>
              </a:rPr>
              <a:t>2</a:t>
            </a:r>
            <a:endParaRPr lang="ru-RU" sz="4000" b="1" dirty="0">
              <a:solidFill>
                <a:schemeClr val="accent6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198E3F1-E7EE-440E-AB40-FF7D82B8F184}"/>
              </a:ext>
            </a:extLst>
          </p:cNvPr>
          <p:cNvSpPr/>
          <p:nvPr/>
        </p:nvSpPr>
        <p:spPr>
          <a:xfrm>
            <a:off x="8875859" y="2298988"/>
            <a:ext cx="2886075" cy="3180550"/>
          </a:xfrm>
          <a:prstGeom prst="rect">
            <a:avLst/>
          </a:prstGeom>
          <a:solidFill>
            <a:srgbClr val="FAE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A0B4285-7792-45A3-8808-E7EBDBAF587E}"/>
              </a:ext>
            </a:extLst>
          </p:cNvPr>
          <p:cNvSpPr txBox="1">
            <a:spLocks/>
          </p:cNvSpPr>
          <p:nvPr/>
        </p:nvSpPr>
        <p:spPr>
          <a:xfrm>
            <a:off x="9148573" y="2909637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rgbClr val="F38F99"/>
                </a:solidFill>
              </a:rPr>
              <a:t>Авторизация</a:t>
            </a:r>
          </a:p>
          <a:p>
            <a:r>
              <a:rPr lang="ru-RU" sz="2400" dirty="0">
                <a:solidFill>
                  <a:srgbClr val="F38F99"/>
                </a:solidFill>
              </a:rPr>
              <a:t>Возможность дальнейшего расширения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EDF6FA34-A26F-4B3B-948D-6228766FE097}"/>
              </a:ext>
            </a:extLst>
          </p:cNvPr>
          <p:cNvSpPr/>
          <p:nvPr/>
        </p:nvSpPr>
        <p:spPr>
          <a:xfrm>
            <a:off x="9942659" y="1957686"/>
            <a:ext cx="733425" cy="7334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634AEC-CD67-403F-BE3B-9C0022AE00C0}"/>
              </a:ext>
            </a:extLst>
          </p:cNvPr>
          <p:cNvSpPr txBox="1"/>
          <p:nvPr/>
        </p:nvSpPr>
        <p:spPr>
          <a:xfrm>
            <a:off x="9942659" y="1957686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6"/>
                </a:solidFill>
              </a:rPr>
              <a:t>3</a:t>
            </a:r>
            <a:endParaRPr lang="ru-RU" sz="40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12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98877A-EC22-4B13-BEDB-7B4A6A54D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319" y="362914"/>
            <a:ext cx="9275618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A6BA0B84-F97C-495B-9E8B-DB25F427E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1319" y="1688477"/>
            <a:ext cx="8381269" cy="4632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err="1"/>
              <a:t>EventFlow</a:t>
            </a:r>
            <a:r>
              <a:rPr lang="ru-RU" dirty="0"/>
              <a:t> — это современная, удобная и функциональная система электронной афиши, которая помогает пользователям находить интересные события, а организаторам — эффективно взаимодействовать с аудиторией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39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8ACC097E-7BAB-43B9-8156-DCDC262B60E8}"/>
              </a:ext>
            </a:extLst>
          </p:cNvPr>
          <p:cNvSpPr txBox="1">
            <a:spLocks/>
          </p:cNvSpPr>
          <p:nvPr/>
        </p:nvSpPr>
        <p:spPr>
          <a:xfrm>
            <a:off x="1276275" y="1673212"/>
            <a:ext cx="9639450" cy="115026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accent6"/>
                </a:solidFill>
              </a:rPr>
              <a:t>СПАСИБО ЗА ВНИМАНИЕ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E16EAE-0F3B-4390-B2F0-3E105525CC0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9662" y="4873859"/>
            <a:ext cx="630000" cy="63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017ADD-5859-41F7-B4D7-D58CB1444D5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279662" y="4869788"/>
            <a:ext cx="630000" cy="63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4FC5E2-2DC6-4F96-9D95-47F636B83D3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179662" y="4869788"/>
            <a:ext cx="630000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08C781F-61A3-4D27-B85A-18E3FBF19F8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079662" y="4869788"/>
            <a:ext cx="630000" cy="630000"/>
          </a:xfrm>
          <a:prstGeom prst="rect">
            <a:avLst/>
          </a:prstGeom>
        </p:spPr>
      </p:pic>
      <p:sp>
        <p:nvSpPr>
          <p:cNvPr id="9" name="Текст 11">
            <a:extLst>
              <a:ext uri="{FF2B5EF4-FFF2-40B4-BE49-F238E27FC236}">
                <a16:creationId xmlns:a16="http://schemas.microsoft.com/office/drawing/2014/main" id="{03786B14-5CC0-4EA9-AF09-F1882592DE7F}"/>
              </a:ext>
            </a:extLst>
          </p:cNvPr>
          <p:cNvSpPr txBox="1">
            <a:spLocks/>
          </p:cNvSpPr>
          <p:nvPr/>
        </p:nvSpPr>
        <p:spPr>
          <a:xfrm>
            <a:off x="2608499" y="2823479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1600" dirty="0">
                <a:solidFill>
                  <a:schemeClr val="accent6"/>
                </a:solidFill>
              </a:rPr>
              <a:t>Хотим выразить особую благодарность организаторам </a:t>
            </a:r>
            <a:r>
              <a:rPr lang="ru-RU" sz="1600" dirty="0" err="1">
                <a:solidFill>
                  <a:schemeClr val="accent6"/>
                </a:solidFill>
              </a:rPr>
              <a:t>хакатона</a:t>
            </a:r>
            <a:r>
              <a:rPr lang="ru-RU" sz="1600" dirty="0">
                <a:solidFill>
                  <a:schemeClr val="accent6"/>
                </a:solidFill>
              </a:rPr>
              <a:t>, за предоставленную возможность. Участие в подобном мероприятии бесценный опыт, который позволил участникам проявить себя, испытать свои силы в профессиональном мастерстве.</a:t>
            </a:r>
          </a:p>
        </p:txBody>
      </p:sp>
    </p:spTree>
    <p:extLst>
      <p:ext uri="{BB962C8B-B14F-4D97-AF65-F5344CB8AC3E}">
        <p14:creationId xmlns:p14="http://schemas.microsoft.com/office/powerpoint/2010/main" val="965843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254</Words>
  <Application>Microsoft Office PowerPoint</Application>
  <PresentationFormat>Широкоэкранный</PresentationFormat>
  <Paragraphs>45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EventFlow  система электронной афиши</vt:lpstr>
      <vt:lpstr>Актуальность проекта</vt:lpstr>
      <vt:lpstr>Цели и задачи проекта</vt:lpstr>
      <vt:lpstr>Технологии разработки</vt:lpstr>
      <vt:lpstr>Функциональные возможности EventFlow</vt:lpstr>
      <vt:lpstr>Заключение</vt:lpstr>
      <vt:lpstr>Презентация PowerPoint</vt:lpstr>
    </vt:vector>
  </TitlesOfParts>
  <Company>presentation-creation.ru</Company>
  <LinksUpToDate>false</LinksUpToDate>
  <SharedDoc>false</SharedDoc>
  <HyperlinkBase>presentation-creation.ru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Розовые ромбы, presentation-creation.ru</dc:title>
  <dc:creator>User Obstinate</dc:creator>
  <cp:lastModifiedBy>user</cp:lastModifiedBy>
  <cp:revision>22</cp:revision>
  <dcterms:created xsi:type="dcterms:W3CDTF">2021-05-04T06:37:33Z</dcterms:created>
  <dcterms:modified xsi:type="dcterms:W3CDTF">2025-12-10T02:22:50Z</dcterms:modified>
</cp:coreProperties>
</file>